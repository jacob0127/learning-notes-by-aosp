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331450" cy="7199630"/>
  <p:notesSz cx="6858000" cy="9144000"/>
  <p:custDataLst>
    <p:tags r:id="rId1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51"/>
        <p:guide pos="320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4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214438" y="1143000"/>
            <a:ext cx="4429125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1569" y="1178409"/>
            <a:ext cx="7749414" cy="2506827"/>
          </a:xfrm>
        </p:spPr>
        <p:txBody>
          <a:bodyPr anchor="b"/>
          <a:lstStyle>
            <a:lvl1pPr algn="ctr">
              <a:defRPr sz="4725"/>
            </a:lvl1pPr>
          </a:lstStyle>
          <a:p>
            <a:pPr fontAlgn="base"/>
            <a:r>
              <a:rPr lang="zh-CN" altLang="en-US" sz="472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1569" y="3781909"/>
            <a:ext cx="7749414" cy="1738444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5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pPr fontAlgn="base"/>
            <a:r>
              <a:rPr lang="zh-CN" altLang="en-US" sz="1890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46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462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336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940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46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4982" y="1795115"/>
            <a:ext cx="8911826" cy="2995191"/>
          </a:xfrm>
        </p:spPr>
        <p:txBody>
          <a:bodyPr anchor="b"/>
          <a:lstStyle>
            <a:lvl1pPr>
              <a:defRPr sz="4725"/>
            </a:lvl1pPr>
          </a:lstStyle>
          <a:p>
            <a:pPr fontAlgn="base"/>
            <a:r>
              <a:rPr lang="zh-CN" altLang="en-US" sz="472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4982" y="4818642"/>
            <a:ext cx="8911826" cy="1575100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89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46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462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6628" y="1680107"/>
            <a:ext cx="4556655" cy="4751971"/>
          </a:xfrm>
        </p:spPr>
        <p:txBody>
          <a:bodyPr/>
          <a:lstStyle/>
          <a:p>
            <a:pPr lvl="0" fontAlgn="base"/>
            <a:r>
              <a:rPr lang="zh-CN" altLang="en-US" sz="336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940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59269" y="1680107"/>
            <a:ext cx="4556655" cy="4751971"/>
          </a:xfrm>
        </p:spPr>
        <p:txBody>
          <a:bodyPr/>
          <a:lstStyle/>
          <a:p>
            <a:pPr lvl="0" fontAlgn="base"/>
            <a:r>
              <a:rPr lang="zh-CN" altLang="en-US" sz="336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940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46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709" y="383358"/>
            <a:ext cx="8911826" cy="1391756"/>
          </a:xfrm>
        </p:spPr>
        <p:txBody>
          <a:bodyPr/>
          <a:lstStyle/>
          <a:p>
            <a:pPr fontAlgn="base"/>
            <a:r>
              <a:rPr lang="zh-CN" altLang="en-US" sz="462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05775" y="1867246"/>
            <a:ext cx="4130287" cy="865055"/>
          </a:xfrm>
        </p:spPr>
        <p:txBody>
          <a:bodyPr anchor="ctr" anchorCtr="0"/>
          <a:lstStyle>
            <a:lvl1pPr marL="0" indent="0">
              <a:buNone/>
              <a:defRPr sz="2205"/>
            </a:lvl1pPr>
            <a:lvl2pPr marL="360045" indent="0">
              <a:buNone/>
              <a:defRPr sz="1890"/>
            </a:lvl2pPr>
            <a:lvl3pPr marL="720090" indent="0">
              <a:buNone/>
              <a:defRPr sz="1575"/>
            </a:lvl3pPr>
            <a:lvl4pPr marL="1080135" indent="0">
              <a:buNone/>
              <a:defRPr sz="1415"/>
            </a:lvl4pPr>
            <a:lvl5pPr marL="1440180" indent="0">
              <a:buNone/>
              <a:defRPr sz="1415"/>
            </a:lvl5pPr>
            <a:lvl6pPr marL="1800225" indent="0">
              <a:buNone/>
              <a:defRPr sz="1415"/>
            </a:lvl6pPr>
            <a:lvl7pPr marL="2160270" indent="0">
              <a:buNone/>
              <a:defRPr sz="1415"/>
            </a:lvl7pPr>
            <a:lvl8pPr marL="2520315" indent="0">
              <a:buNone/>
              <a:defRPr sz="1415"/>
            </a:lvl8pPr>
            <a:lvl9pPr marL="2880360" indent="0">
              <a:buNone/>
              <a:defRPr sz="1415"/>
            </a:lvl9pPr>
          </a:lstStyle>
          <a:p>
            <a:pPr lvl="0" fontAlgn="base"/>
            <a:r>
              <a:rPr lang="zh-CN" altLang="en-US" sz="220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05775" y="2798477"/>
            <a:ext cx="4130287" cy="3700272"/>
          </a:xfrm>
        </p:spPr>
        <p:txBody>
          <a:bodyPr/>
          <a:lstStyle/>
          <a:p>
            <a:pPr lvl="0" fontAlgn="base"/>
            <a:r>
              <a:rPr lang="zh-CN" altLang="en-US" sz="336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940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02669" y="1867246"/>
            <a:ext cx="4150628" cy="865055"/>
          </a:xfrm>
        </p:spPr>
        <p:txBody>
          <a:bodyPr anchor="ctr" anchorCtr="0"/>
          <a:lstStyle>
            <a:lvl1pPr marL="0" indent="0">
              <a:buNone/>
              <a:defRPr sz="2205"/>
            </a:lvl1pPr>
            <a:lvl2pPr marL="360045" indent="0">
              <a:buNone/>
              <a:defRPr sz="1890"/>
            </a:lvl2pPr>
            <a:lvl3pPr marL="720090" indent="0">
              <a:buNone/>
              <a:defRPr sz="1575"/>
            </a:lvl3pPr>
            <a:lvl4pPr marL="1080135" indent="0">
              <a:buNone/>
              <a:defRPr sz="1415"/>
            </a:lvl4pPr>
            <a:lvl5pPr marL="1440180" indent="0">
              <a:buNone/>
              <a:defRPr sz="1415"/>
            </a:lvl5pPr>
            <a:lvl6pPr marL="1800225" indent="0">
              <a:buNone/>
              <a:defRPr sz="1415"/>
            </a:lvl6pPr>
            <a:lvl7pPr marL="2160270" indent="0">
              <a:buNone/>
              <a:defRPr sz="1415"/>
            </a:lvl7pPr>
            <a:lvl8pPr marL="2520315" indent="0">
              <a:buNone/>
              <a:defRPr sz="1415"/>
            </a:lvl8pPr>
            <a:lvl9pPr marL="2880360" indent="0">
              <a:buNone/>
              <a:defRPr sz="1415"/>
            </a:lvl9pPr>
          </a:lstStyle>
          <a:p>
            <a:pPr lvl="0" fontAlgn="base"/>
            <a:r>
              <a:rPr lang="zh-CN" altLang="en-US" sz="220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02669" y="2798477"/>
            <a:ext cx="4150628" cy="3700272"/>
          </a:xfrm>
        </p:spPr>
        <p:txBody>
          <a:bodyPr/>
          <a:lstStyle/>
          <a:p>
            <a:pPr lvl="0" fontAlgn="base"/>
            <a:r>
              <a:rPr lang="zh-CN" altLang="en-US" sz="336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940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46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462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46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46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709" y="480031"/>
            <a:ext cx="3332517" cy="1680107"/>
          </a:xfrm>
        </p:spPr>
        <p:txBody>
          <a:bodyPr anchor="b"/>
          <a:lstStyle>
            <a:lvl1pPr>
              <a:defRPr sz="2520"/>
            </a:lvl1pPr>
          </a:lstStyle>
          <a:p>
            <a:pPr fontAlgn="base"/>
            <a:r>
              <a:rPr lang="zh-CN" altLang="en-US" sz="252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92680" y="1036733"/>
            <a:ext cx="5230854" cy="5116994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11709" y="2160138"/>
            <a:ext cx="3332517" cy="4001923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90"/>
            </a:lvl4pPr>
            <a:lvl5pPr marL="1440180" indent="0">
              <a:buNone/>
              <a:defRPr sz="790"/>
            </a:lvl5pPr>
            <a:lvl6pPr marL="1800225" indent="0">
              <a:buNone/>
              <a:defRPr sz="790"/>
            </a:lvl6pPr>
            <a:lvl7pPr marL="2160270" indent="0">
              <a:buNone/>
              <a:defRPr sz="790"/>
            </a:lvl7pPr>
            <a:lvl8pPr marL="2520315" indent="0">
              <a:buNone/>
              <a:defRPr sz="790"/>
            </a:lvl8pPr>
            <a:lvl9pPr marL="2880360" indent="0">
              <a:buNone/>
              <a:defRPr sz="790"/>
            </a:lvl9pPr>
          </a:lstStyle>
          <a:p>
            <a:pPr lvl="0" fontAlgn="base"/>
            <a:r>
              <a:rPr lang="zh-CN" altLang="en-US" sz="126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46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709" y="480031"/>
            <a:ext cx="3530076" cy="1680107"/>
          </a:xfrm>
        </p:spPr>
        <p:txBody>
          <a:bodyPr anchor="b"/>
          <a:lstStyle>
            <a:lvl1pPr>
              <a:defRPr sz="2520"/>
            </a:lvl1pPr>
          </a:lstStyle>
          <a:p>
            <a:pPr fontAlgn="base"/>
            <a:r>
              <a:rPr lang="zh-CN" altLang="en-US" sz="252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392680" y="480032"/>
            <a:ext cx="5230854" cy="5673696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11709" y="2160138"/>
            <a:ext cx="3530076" cy="4001923"/>
          </a:xfrm>
        </p:spPr>
        <p:txBody>
          <a:bodyPr/>
          <a:lstStyle>
            <a:lvl1pPr marL="0" indent="0">
              <a:buNone/>
              <a:defRPr sz="1575"/>
            </a:lvl1pPr>
            <a:lvl2pPr marL="360045" indent="0">
              <a:buNone/>
              <a:defRPr sz="1415"/>
            </a:lvl2pPr>
            <a:lvl3pPr marL="720090" indent="0">
              <a:buNone/>
              <a:defRPr sz="1260"/>
            </a:lvl3pPr>
            <a:lvl4pPr marL="1080135" indent="0">
              <a:buNone/>
              <a:defRPr sz="1100"/>
            </a:lvl4pPr>
            <a:lvl5pPr marL="1440180" indent="0">
              <a:buNone/>
              <a:defRPr sz="1100"/>
            </a:lvl5pPr>
            <a:lvl6pPr marL="1800225" indent="0">
              <a:buNone/>
              <a:defRPr sz="1100"/>
            </a:lvl6pPr>
            <a:lvl7pPr marL="2160270" indent="0">
              <a:buNone/>
              <a:defRPr sz="1100"/>
            </a:lvl7pPr>
            <a:lvl8pPr marL="2520315" indent="0">
              <a:buNone/>
              <a:defRPr sz="1100"/>
            </a:lvl8pPr>
            <a:lvl9pPr marL="2880360" indent="0">
              <a:buNone/>
              <a:defRPr sz="1100"/>
            </a:lvl9pPr>
          </a:lstStyle>
          <a:p>
            <a:pPr lvl="0" fontAlgn="base"/>
            <a:r>
              <a:rPr lang="zh-CN" altLang="en-US" sz="157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46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462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336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940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46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91100" y="288352"/>
            <a:ext cx="2324824" cy="6143726"/>
          </a:xfrm>
        </p:spPr>
        <p:txBody>
          <a:bodyPr vert="eaVert"/>
          <a:lstStyle/>
          <a:p>
            <a:pPr fontAlgn="base"/>
            <a:r>
              <a:rPr lang="zh-CN" altLang="en-US" sz="462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6628" y="288352"/>
            <a:ext cx="6839699" cy="6143726"/>
          </a:xfrm>
        </p:spPr>
        <p:txBody>
          <a:bodyPr vert="eaVert"/>
          <a:lstStyle/>
          <a:p>
            <a:pPr lvl="0" fontAlgn="base"/>
            <a:r>
              <a:rPr lang="zh-CN" altLang="en-US" sz="336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940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46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515938" y="288925"/>
            <a:ext cx="9299575" cy="1200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 fontAlgn="base"/>
            <a:r>
              <a:rPr lang="zh-CN" altLang="en-US" sz="4620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515938" y="1679575"/>
            <a:ext cx="9299575" cy="4752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fontAlgn="base"/>
            <a:r>
              <a:rPr lang="zh-CN" altLang="en-US" sz="336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940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252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515938" y="6556375"/>
            <a:ext cx="2411413" cy="5000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6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530600" y="6556375"/>
            <a:ext cx="3271838" cy="5000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6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7405688" y="6556375"/>
            <a:ext cx="2409825" cy="5000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65"/>
            </a:lvl1pPr>
          </a:lstStyle>
          <a:p>
            <a:pPr lvl="0" fontAlgn="base"/>
            <a:fld id="{9A0DB2DC-4C9A-4742-B13C-FB6460FD3503}" type="slidenum">
              <a:rPr lang="zh-CN" altLang="en-US" sz="146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6012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62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0045" lvl="0" indent="-360045" algn="l" defTabSz="960120" eaLnBrk="1" fontAlgn="base" latinLnBrk="0" hangingPunct="1">
        <a:lnSpc>
          <a:spcPct val="100000"/>
        </a:lnSpc>
        <a:spcBef>
          <a:spcPct val="21000"/>
        </a:spcBef>
        <a:spcAft>
          <a:spcPct val="0"/>
        </a:spcAft>
        <a:buChar char="•"/>
        <a:defRPr sz="33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79780" lvl="1" indent="-299720" algn="l" defTabSz="960120" eaLnBrk="1" fontAlgn="base" latinLnBrk="0" hangingPunct="1">
        <a:lnSpc>
          <a:spcPct val="100000"/>
        </a:lnSpc>
        <a:spcBef>
          <a:spcPct val="21000"/>
        </a:spcBef>
        <a:spcAft>
          <a:spcPct val="0"/>
        </a:spcAft>
        <a:buChar char="–"/>
        <a:defRPr sz="294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99515" lvl="2" indent="-240030" algn="l" defTabSz="960120" eaLnBrk="1" fontAlgn="base" latinLnBrk="0" hangingPunct="1">
        <a:lnSpc>
          <a:spcPct val="100000"/>
        </a:lnSpc>
        <a:spcBef>
          <a:spcPct val="21000"/>
        </a:spcBef>
        <a:spcAft>
          <a:spcPct val="0"/>
        </a:spcAft>
        <a:buChar char="•"/>
        <a:defRPr sz="252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80210" lvl="3" indent="-240030" algn="l" defTabSz="960120" eaLnBrk="1" fontAlgn="base" latinLnBrk="0" hangingPunct="1">
        <a:lnSpc>
          <a:spcPct val="100000"/>
        </a:lnSpc>
        <a:spcBef>
          <a:spcPct val="21000"/>
        </a:spcBef>
        <a:spcAft>
          <a:spcPct val="0"/>
        </a:spcAft>
        <a:buChar char="–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160270" lvl="4" indent="-240030" algn="l" defTabSz="960120" eaLnBrk="1" fontAlgn="base" latinLnBrk="0" hangingPunct="1">
        <a:lnSpc>
          <a:spcPct val="100000"/>
        </a:lnSpc>
        <a:spcBef>
          <a:spcPct val="21000"/>
        </a:spcBef>
        <a:spcAft>
          <a:spcPct val="0"/>
        </a:spcAft>
        <a:buChar char="»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640330" lvl="5" indent="-240030" algn="l" defTabSz="960120" eaLnBrk="1" fontAlgn="base" latinLnBrk="0" hangingPunct="1">
        <a:lnSpc>
          <a:spcPct val="100000"/>
        </a:lnSpc>
        <a:spcBef>
          <a:spcPct val="21000"/>
        </a:spcBef>
        <a:spcAft>
          <a:spcPct val="0"/>
        </a:spcAft>
        <a:buChar char="»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120390" lvl="6" indent="-240030" algn="l" defTabSz="960120" eaLnBrk="1" fontAlgn="base" latinLnBrk="0" hangingPunct="1">
        <a:lnSpc>
          <a:spcPct val="100000"/>
        </a:lnSpc>
        <a:spcBef>
          <a:spcPct val="21000"/>
        </a:spcBef>
        <a:spcAft>
          <a:spcPct val="0"/>
        </a:spcAft>
        <a:buChar char="»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599815" lvl="7" indent="-240030" algn="l" defTabSz="960120" eaLnBrk="1" fontAlgn="base" latinLnBrk="0" hangingPunct="1">
        <a:lnSpc>
          <a:spcPct val="100000"/>
        </a:lnSpc>
        <a:spcBef>
          <a:spcPct val="21000"/>
        </a:spcBef>
        <a:spcAft>
          <a:spcPct val="0"/>
        </a:spcAft>
        <a:buChar char="»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079875" lvl="8" indent="-240030" algn="l" defTabSz="960120" eaLnBrk="1" fontAlgn="base" latinLnBrk="0" hangingPunct="1">
        <a:lnSpc>
          <a:spcPct val="100000"/>
        </a:lnSpc>
        <a:spcBef>
          <a:spcPct val="21000"/>
        </a:spcBef>
        <a:spcAft>
          <a:spcPct val="0"/>
        </a:spcAft>
        <a:buChar char="»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6012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9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80060" lvl="1" indent="0" algn="l" defTabSz="96012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60120" lvl="2" indent="0" algn="l" defTabSz="96012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440180" lvl="3" indent="0" algn="l" defTabSz="96012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920240" lvl="4" indent="0" algn="l" defTabSz="96012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400300" lvl="5" indent="0" algn="l" defTabSz="96012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880360" lvl="6" indent="0" algn="l" defTabSz="96012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359785" lvl="7" indent="0" algn="l" defTabSz="96012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839845" lvl="8" indent="0" algn="l" defTabSz="96012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63525" y="215900"/>
          <a:ext cx="9764713" cy="1047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0615"/>
                <a:gridCol w="4184650"/>
                <a:gridCol w="3199130"/>
              </a:tblGrid>
              <a:tr h="28257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文件类别</a:t>
                      </a:r>
                      <a:endParaRPr 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ShenZhen YueYu Technology CO.，LTD</a:t>
                      </a:r>
                      <a:endParaRPr 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深圳市粤宇科技有限公司</a:t>
                      </a:r>
                      <a:r>
                        <a:rPr lang="en-US" altLang="zh-CN" sz="1400" b="1">
                          <a:latin typeface="宋体" panose="02010600030101010101" pitchFamily="2" charset="-122"/>
                        </a:rPr>
                        <a:t> </a:t>
                      </a:r>
                      <a:endParaRPr lang="en-US" sz="1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文件编号:</a:t>
                      </a:r>
                      <a:r>
                        <a:rPr lang="en-US" sz="12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WI-SCS-00</a:t>
                      </a: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11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版本: A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36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三阶</a:t>
                      </a:r>
                      <a:r>
                        <a:rPr lang="en-US" altLang="zh-CN" sz="1100" b="1">
                          <a:latin typeface="宋体" panose="02010600030101010101" pitchFamily="2" charset="-122"/>
                        </a:rPr>
                        <a:t> </a:t>
                      </a:r>
                      <a:endParaRPr 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MTK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自动测试作业指导书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 </a:t>
                      </a:r>
                      <a:endParaRPr lang="en-US" sz="14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修正次数：0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生效日期： 20210916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263525" y="1268413"/>
          <a:ext cx="9766300" cy="51396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8410"/>
                <a:gridCol w="748665"/>
                <a:gridCol w="498475"/>
                <a:gridCol w="1248410"/>
                <a:gridCol w="1134745"/>
                <a:gridCol w="1249045"/>
                <a:gridCol w="583565"/>
                <a:gridCol w="776605"/>
                <a:gridCol w="1248410"/>
                <a:gridCol w="1029335"/>
              </a:tblGrid>
              <a:tr h="1647190">
                <a:tc gridSpan="10">
                  <a:txBody>
                    <a:bodyPr/>
                    <a:p>
                      <a:pPr>
                        <a:buNone/>
                      </a:pPr>
                      <a:endParaRPr lang="en-US" sz="1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文件名称：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MTK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自动测试作业指导书</a:t>
                      </a:r>
                      <a:r>
                        <a:rPr lang="en-US" sz="1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sz="1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endParaRPr lang="en-US" sz="1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签章：      </a:t>
                      </a: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                                         编写部门: 测试部 </a:t>
                      </a: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1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发放与签收记录</a:t>
                      </a:r>
                      <a:r>
                        <a:rPr lang="en-US" sz="11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endParaRPr lang="en-US" sz="11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endParaRPr lang="en-US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PMingLiU" panose="02020500000000000000" charset="-120"/>
                          <a:ea typeface="PMingLiU" panose="02020500000000000000" charset="-120"/>
                          <a:cs typeface="PMingLiU" panose="02020500000000000000" charset="-120"/>
                        </a:rPr>
                        <a:t>会签</a:t>
                      </a:r>
                      <a:endParaRPr lang="en-US" altLang="en-US" sz="1200" b="1">
                        <a:latin typeface="PMingLiU" panose="02020500000000000000" charset="-120"/>
                        <a:ea typeface="PMingLiU" panose="02020500000000000000" charset="-120"/>
                        <a:cs typeface="PMingLiU" panose="02020500000000000000" charset="-12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是否分发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PMingLiU" panose="02020500000000000000" charset="-120"/>
                          <a:ea typeface="PMingLiU" panose="02020500000000000000" charset="-120"/>
                          <a:cs typeface="PMingLiU" panose="02020500000000000000" charset="-120"/>
                        </a:rPr>
                        <a:t>部门</a:t>
                      </a:r>
                      <a:endParaRPr lang="en-US" altLang="en-US" sz="1200" b="1">
                        <a:latin typeface="PMingLiU" panose="02020500000000000000" charset="-120"/>
                        <a:ea typeface="PMingLiU" panose="02020500000000000000" charset="-120"/>
                        <a:cs typeface="PMingLiU" panose="02020500000000000000" charset="-12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PMingLiU" panose="02020500000000000000" charset="-120"/>
                          <a:ea typeface="PMingLiU" panose="02020500000000000000" charset="-120"/>
                          <a:cs typeface="PMingLiU" panose="02020500000000000000" charset="-120"/>
                        </a:rPr>
                        <a:t>份数</a:t>
                      </a:r>
                      <a:endParaRPr lang="en-US" altLang="en-US" sz="1200" b="1">
                        <a:latin typeface="PMingLiU" panose="02020500000000000000" charset="-120"/>
                        <a:ea typeface="PMingLiU" panose="02020500000000000000" charset="-120"/>
                        <a:cs typeface="PMingLiU" panose="02020500000000000000" charset="-12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PMingLiU" panose="02020500000000000000" charset="-120"/>
                          <a:ea typeface="PMingLiU" panose="02020500000000000000" charset="-120"/>
                          <a:cs typeface="PMingLiU" panose="02020500000000000000" charset="-120"/>
                        </a:rPr>
                        <a:t>会签</a:t>
                      </a:r>
                      <a:endParaRPr lang="en-US" altLang="en-US" sz="1200" b="1">
                        <a:latin typeface="PMingLiU" panose="02020500000000000000" charset="-120"/>
                        <a:ea typeface="PMingLiU" panose="02020500000000000000" charset="-120"/>
                        <a:cs typeface="PMingLiU" panose="02020500000000000000" charset="-12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PMingLiU" panose="02020500000000000000" charset="-120"/>
                          <a:ea typeface="PMingLiU" panose="02020500000000000000" charset="-120"/>
                          <a:cs typeface="PMingLiU" panose="02020500000000000000" charset="-120"/>
                        </a:rPr>
                        <a:t>分发</a:t>
                      </a:r>
                      <a:endParaRPr lang="en-US" altLang="en-US" sz="1200" b="1">
                        <a:latin typeface="PMingLiU" panose="02020500000000000000" charset="-120"/>
                        <a:ea typeface="PMingLiU" panose="02020500000000000000" charset="-120"/>
                        <a:cs typeface="PMingLiU" panose="02020500000000000000" charset="-12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PMingLiU" panose="02020500000000000000" charset="-120"/>
                          <a:ea typeface="PMingLiU" panose="02020500000000000000" charset="-120"/>
                          <a:cs typeface="PMingLiU" panose="02020500000000000000" charset="-120"/>
                        </a:rPr>
                        <a:t>部门</a:t>
                      </a:r>
                      <a:endParaRPr lang="en-US" altLang="en-US" sz="1200" b="1">
                        <a:latin typeface="PMingLiU" panose="02020500000000000000" charset="-120"/>
                        <a:ea typeface="PMingLiU" panose="02020500000000000000" charset="-120"/>
                        <a:cs typeface="PMingLiU" panose="02020500000000000000" charset="-12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PMingLiU" panose="02020500000000000000" charset="-120"/>
                          <a:ea typeface="PMingLiU" panose="02020500000000000000" charset="-120"/>
                          <a:cs typeface="PMingLiU" panose="02020500000000000000" charset="-120"/>
                        </a:rPr>
                        <a:t>份数</a:t>
                      </a:r>
                      <a:endParaRPr lang="en-US" altLang="en-US" sz="1200" b="1">
                        <a:latin typeface="PMingLiU" panose="02020500000000000000" charset="-120"/>
                        <a:ea typeface="PMingLiU" panose="02020500000000000000" charset="-120"/>
                        <a:cs typeface="PMingLiU" panose="02020500000000000000" charset="-12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71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endParaRPr lang="en-US" altLang="en-US" sz="12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□是  □否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总经办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endParaRPr lang="en-US" altLang="en-US" sz="12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□是  □否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行政部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endParaRPr lang="en-US" altLang="en-US" sz="12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90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endParaRPr lang="en-US" altLang="en-US" sz="12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□是  □否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市场部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endParaRPr lang="en-US" altLang="en-US" sz="12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□是  □否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采购部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endParaRPr lang="en-US" altLang="en-US" sz="12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90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□是  □否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生产部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□是  □否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PMC部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05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□是  □否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测试部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□是  □否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财务部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1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□是  □否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品质部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□是  □否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NPI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1310">
                <a:tc gridSpan="10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*  *  *  *   </a:t>
                      </a:r>
                      <a:r>
                        <a:rPr lang="en-US" sz="1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修改记录</a:t>
                      </a: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*  *  *  *  *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590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PMingLiU" panose="02020500000000000000" charset="-120"/>
                          <a:ea typeface="PMingLiU" panose="02020500000000000000" charset="-120"/>
                          <a:cs typeface="PMingLiU" panose="02020500000000000000" charset="-120"/>
                        </a:rPr>
                        <a:t>版本</a:t>
                      </a: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/版次</a:t>
                      </a:r>
                      <a:endParaRPr lang="en-US" altLang="en-US" sz="1100">
                        <a:latin typeface="PMingLiU" panose="02020500000000000000" charset="-120"/>
                        <a:ea typeface="PMingLiU" panose="02020500000000000000" charset="-120"/>
                        <a:cs typeface="PMingLiU" panose="02020500000000000000" charset="-12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PMingLiU" panose="02020500000000000000" charset="-120"/>
                          <a:ea typeface="PMingLiU" panose="02020500000000000000" charset="-120"/>
                          <a:cs typeface="PMingLiU" panose="02020500000000000000" charset="-120"/>
                        </a:rPr>
                        <a:t>修改内容</a:t>
                      </a:r>
                      <a:endParaRPr lang="en-US" altLang="en-US" sz="1100">
                        <a:latin typeface="PMingLiU" panose="02020500000000000000" charset="-120"/>
                        <a:ea typeface="PMingLiU" panose="02020500000000000000" charset="-120"/>
                        <a:cs typeface="PMingLiU" panose="02020500000000000000" charset="-120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备 注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8511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A/0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/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8702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8638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8765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263525" y="6624638"/>
          <a:ext cx="9764713" cy="4019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76270"/>
                <a:gridCol w="3392170"/>
                <a:gridCol w="3195955"/>
              </a:tblGrid>
              <a:tr h="4019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制定：</a:t>
                      </a:r>
                      <a:r>
                        <a:rPr lang="zh-CN" altLang="en-US" sz="1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汪俊飞</a:t>
                      </a:r>
                      <a:endParaRPr lang="zh-CN" altLang="en-US" sz="1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审核：</a:t>
                      </a:r>
                      <a:endParaRPr lang="en-US" altLang="en-US" sz="1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核准：</a:t>
                      </a:r>
                      <a:endParaRPr lang="en-US" altLang="en-US" sz="1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3" marR="68583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标题 1"/>
          <p:cNvSpPr>
            <a:spLocks noGrp="1"/>
          </p:cNvSpPr>
          <p:nvPr>
            <p:ph type="title"/>
          </p:nvPr>
        </p:nvSpPr>
        <p:spPr>
          <a:xfrm>
            <a:off x="262890" y="247650"/>
            <a:ext cx="9830435" cy="1727200"/>
          </a:xfrm>
        </p:spPr>
        <p:txBody>
          <a:bodyPr anchor="ctr" anchorCtr="0"/>
          <a:p>
            <a:pPr algn="l"/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1、USB驱动安装步骤如下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b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(1.1</a:t>
            </a:r>
            <a:r>
              <a:rPr 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找到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我的电脑，打开设备管理器（或者打开管理找到设备管理器） </a:t>
            </a:r>
            <a:b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(1.2插上主板会在其他设备弹出MT65xx需要安装驱动</a:t>
            </a:r>
            <a:b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右击MT65xx选择更新驱动程序。</a:t>
            </a:r>
            <a:r>
              <a:rPr 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如下</a:t>
            </a:r>
            <a:r>
              <a:rPr 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、图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、图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lang="en-US" altLang="zh-CN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140" y="1151255"/>
            <a:ext cx="1895475" cy="417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95" y="1974850"/>
            <a:ext cx="36195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683" y="1943100"/>
            <a:ext cx="5267325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" y="3612833"/>
            <a:ext cx="469265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圆角矩形标注 3"/>
          <p:cNvSpPr/>
          <p:nvPr/>
        </p:nvSpPr>
        <p:spPr>
          <a:xfrm>
            <a:off x="3077210" y="2231390"/>
            <a:ext cx="914400" cy="611505"/>
          </a:xfrm>
          <a:prstGeom prst="wedgeRound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7757795" y="2375535"/>
            <a:ext cx="914400" cy="611505"/>
          </a:xfrm>
          <a:prstGeom prst="wedgeRound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3077210" y="3743325"/>
            <a:ext cx="914400" cy="611505"/>
          </a:xfrm>
          <a:prstGeom prst="wedgeRound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5095" y="142875"/>
            <a:ext cx="9979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(1.3找到我们拷贝出来的驱动文件SP_Drivers_EXE_v2.0，点确定，再点击下一步，提示安装成功。如下</a:t>
            </a:r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4</a:t>
            </a:r>
            <a:r>
              <a:rPr lang="zh-CN" altLang="en-US"/>
              <a:t>、</a:t>
            </a:r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5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19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95" y="862648"/>
            <a:ext cx="3312160" cy="3234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645" y="854393"/>
            <a:ext cx="3790950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25095" y="4171950"/>
            <a:ext cx="93414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2、控制板USB驱动安装步骤；</a:t>
            </a:r>
            <a:endParaRPr lang="zh-CN" altLang="en-US" sz="2400" b="1"/>
          </a:p>
          <a:p>
            <a:r>
              <a:rPr lang="zh-CN" altLang="en-US" sz="1800"/>
              <a:t>2.1拷贝PL2303_Prolific_DriverInstaller_v130，驱动包并解压，双击打开程序文件点下一步直接安装成功。安装成功后插上控制盒会弹出对应的端口。如下</a:t>
            </a:r>
            <a:r>
              <a:rPr lang="zh-CN" altLang="en-US" sz="1800">
                <a:solidFill>
                  <a:srgbClr val="FF0000"/>
                </a:solidFill>
              </a:rPr>
              <a:t>图</a:t>
            </a:r>
            <a:r>
              <a:rPr lang="en-US" altLang="zh-CN" sz="1800">
                <a:solidFill>
                  <a:srgbClr val="FF0000"/>
                </a:solidFill>
              </a:rPr>
              <a:t>6</a:t>
            </a:r>
            <a:r>
              <a:rPr lang="zh-CN" altLang="en-US" sz="1800"/>
              <a:t>；</a:t>
            </a:r>
            <a:endParaRPr lang="zh-CN" altLang="en-US" sz="1800"/>
          </a:p>
        </p:txBody>
      </p:sp>
      <p:pic>
        <p:nvPicPr>
          <p:cNvPr id="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0" y="5190490"/>
            <a:ext cx="661035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圆角矩形标注 3"/>
          <p:cNvSpPr/>
          <p:nvPr/>
        </p:nvSpPr>
        <p:spPr>
          <a:xfrm>
            <a:off x="2141220" y="1655445"/>
            <a:ext cx="914400" cy="611505"/>
          </a:xfrm>
          <a:prstGeom prst="wedgeRound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4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6245860" y="1583055"/>
            <a:ext cx="914400" cy="611505"/>
          </a:xfrm>
          <a:prstGeom prst="wedgeRound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5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4229735" y="5400040"/>
            <a:ext cx="914400" cy="611505"/>
          </a:xfrm>
          <a:prstGeom prst="wedgeRound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6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2240" y="160655"/>
            <a:ext cx="100037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/>
              <a:t>3、自动测试工具调试步骤；</a:t>
            </a:r>
            <a:endParaRPr lang="zh-CN" altLang="en-US" sz="2400" b="1"/>
          </a:p>
          <a:p>
            <a:pPr algn="l"/>
            <a:r>
              <a:rPr lang="zh-CN" altLang="en-US" sz="1800"/>
              <a:t>3.1我们以SP_ATA_tool_exe_v2.1844.00工具为例；双击打开工具，在主界面点击Config输入默认密码123456或1。如下</a:t>
            </a:r>
            <a:r>
              <a:rPr lang="zh-CN" altLang="en-US" sz="1800">
                <a:solidFill>
                  <a:srgbClr val="FF0000"/>
                </a:solidFill>
              </a:rPr>
              <a:t>图</a:t>
            </a:r>
            <a:r>
              <a:rPr lang="en-US" altLang="zh-CN" sz="1800">
                <a:solidFill>
                  <a:srgbClr val="FF0000"/>
                </a:solidFill>
              </a:rPr>
              <a:t>7</a:t>
            </a:r>
            <a:r>
              <a:rPr lang="zh-CN" altLang="en-US" sz="1800"/>
              <a:t>、</a:t>
            </a:r>
            <a:endParaRPr lang="en-US" altLang="zh-CN" sz="1800">
              <a:solidFill>
                <a:srgbClr val="FF0000"/>
              </a:solidFill>
            </a:endParaRPr>
          </a:p>
        </p:txBody>
      </p:sp>
      <p:pic>
        <p:nvPicPr>
          <p:cNvPr id="33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240" y="1175385"/>
            <a:ext cx="558165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42240" y="3671570"/>
            <a:ext cx="9801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3.2  测试选项勾选：</a:t>
            </a:r>
            <a:r>
              <a:rPr lang="zh-CN" altLang="en-US">
                <a:sym typeface="+mn-ea"/>
              </a:rPr>
              <a:t>如下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图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8</a:t>
            </a:r>
            <a:endParaRPr lang="zh-CN" altLang="en-US"/>
          </a:p>
        </p:txBody>
      </p:sp>
      <p:pic>
        <p:nvPicPr>
          <p:cNvPr id="32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23" y="4039870"/>
            <a:ext cx="454342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圆角矩形标注 3"/>
          <p:cNvSpPr/>
          <p:nvPr/>
        </p:nvSpPr>
        <p:spPr>
          <a:xfrm>
            <a:off x="1781810" y="1367155"/>
            <a:ext cx="914400" cy="611505"/>
          </a:xfrm>
          <a:prstGeom prst="wedgeRound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7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4013835" y="5471795"/>
            <a:ext cx="914400" cy="611505"/>
          </a:xfrm>
          <a:prstGeom prst="wedgeRound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8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5095" y="142875"/>
            <a:ext cx="100622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/>
              <a:t>3.3 Confing设置中端口的配置说明：如</a:t>
            </a:r>
            <a:r>
              <a:rPr lang="zh-CN" altLang="en-US" sz="1600">
                <a:solidFill>
                  <a:srgbClr val="FF0000"/>
                </a:solidFill>
              </a:rPr>
              <a:t>图</a:t>
            </a:r>
            <a:r>
              <a:rPr lang="en-US" altLang="zh-CN" sz="1600">
                <a:solidFill>
                  <a:srgbClr val="FF0000"/>
                </a:solidFill>
              </a:rPr>
              <a:t>9</a:t>
            </a:r>
            <a:endParaRPr lang="zh-CN" altLang="en-US" sz="1600"/>
          </a:p>
          <a:p>
            <a:pPr algn="l"/>
            <a:r>
              <a:rPr lang="zh-CN" altLang="en-US" sz="1600"/>
              <a:t>3.3.1 Active框勾上在面板中的start按钮才会亮起。</a:t>
            </a:r>
            <a:endParaRPr lang="zh-CN" altLang="en-US" sz="1600"/>
          </a:p>
          <a:p>
            <a:pPr algn="l"/>
            <a:r>
              <a:rPr lang="zh-CN" altLang="en-US" sz="1600"/>
              <a:t>3.3.2 preloader为左边的端口地址。如图一、1上面的“4”、preloader：直接压板就会弹出这个端口。</a:t>
            </a:r>
            <a:endParaRPr lang="zh-CN" altLang="en-US" sz="1600"/>
          </a:p>
          <a:p>
            <a:pPr algn="l"/>
            <a:r>
              <a:rPr lang="zh-CN" altLang="en-US" sz="1600"/>
              <a:t>3.3.3 Kernel Port为右边的端口地址。如图一、1上面的“5”、Kernel Port：在设置好preloader端口后保存，在测试界面点平台开始测试时去我的电脑中的设备管理器“查看”</a:t>
            </a:r>
            <a:endParaRPr lang="zh-CN" altLang="en-US" sz="1600"/>
          </a:p>
          <a:p>
            <a:pPr algn="l"/>
            <a:r>
              <a:rPr lang="zh-CN" altLang="en-US" sz="1600"/>
              <a:t>3.3.4控制器的端口配置,分别有四个端口,每个控制器分配一个端口，根据实际分配端口配置填写，控制端口必须要与Preloader 和Kermel Port 端口相一一对应.</a:t>
            </a:r>
            <a:endParaRPr lang="zh-CN" altLang="en-US" sz="1600"/>
          </a:p>
          <a:p>
            <a:pPr algn="l"/>
            <a:r>
              <a:rPr lang="zh-CN" altLang="en-US" sz="1600"/>
              <a:t>3.3.5 Auto polling勾上为自动开始测试。stop if failed勾上后为测试fail自动停止。其他选项不做勾选和修改。如</a:t>
            </a:r>
            <a:r>
              <a:rPr lang="zh-CN" altLang="en-US" sz="1600">
                <a:solidFill>
                  <a:srgbClr val="FF0000"/>
                </a:solidFill>
              </a:rPr>
              <a:t>图</a:t>
            </a:r>
            <a:r>
              <a:rPr lang="en-US" altLang="zh-CN" sz="1600">
                <a:solidFill>
                  <a:srgbClr val="FF0000"/>
                </a:solidFill>
              </a:rPr>
              <a:t>10</a:t>
            </a:r>
            <a:endParaRPr lang="en-US" altLang="zh-CN" sz="1600">
              <a:solidFill>
                <a:srgbClr val="FF0000"/>
              </a:solidFill>
            </a:endParaRPr>
          </a:p>
        </p:txBody>
      </p:sp>
      <p:pic>
        <p:nvPicPr>
          <p:cNvPr id="3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95" y="2449830"/>
            <a:ext cx="5741035" cy="4749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610" y="2449513"/>
            <a:ext cx="3448050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圆角矩形标注 3"/>
          <p:cNvSpPr/>
          <p:nvPr/>
        </p:nvSpPr>
        <p:spPr>
          <a:xfrm>
            <a:off x="701040" y="5760085"/>
            <a:ext cx="914400" cy="611505"/>
          </a:xfrm>
          <a:prstGeom prst="wedgeRound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9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8849995" y="3023235"/>
            <a:ext cx="914400" cy="611505"/>
          </a:xfrm>
          <a:prstGeom prst="wedgeRound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10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30185" y="3959860"/>
            <a:ext cx="236664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调试站位时</a:t>
            </a:r>
            <a:r>
              <a:rPr lang="en-US" altLang="zh-CN" sz="1200">
                <a:solidFill>
                  <a:srgbClr val="FF0000"/>
                </a:solidFill>
              </a:rPr>
              <a:t>stop if failed</a:t>
            </a:r>
            <a:r>
              <a:rPr lang="zh-CN" altLang="en-US" sz="1200">
                <a:solidFill>
                  <a:srgbClr val="FF0000"/>
                </a:solidFill>
              </a:rPr>
              <a:t>此项不勾</a:t>
            </a:r>
            <a:endParaRPr lang="zh-CN" altLang="en-US"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3505" y="61595"/>
            <a:ext cx="101244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/>
              <a:t>3.4 SW+HW+Barcode</a:t>
            </a:r>
            <a:endParaRPr lang="zh-CN" altLang="en-US" sz="1600"/>
          </a:p>
          <a:p>
            <a:pPr algn="l"/>
            <a:r>
              <a:rPr lang="zh-CN" altLang="en-US" sz="1600"/>
              <a:t>3.4.1在AP Version 和Modem 项填写软件版本号,根据实际的软件版本号填写。（跑一片板，后在log中拉到最下查看并复制粘贴）</a:t>
            </a:r>
            <a:endParaRPr lang="zh-CN" altLang="en-US" sz="1600"/>
          </a:p>
          <a:p>
            <a:pPr algn="l"/>
            <a:r>
              <a:rPr lang="zh-CN" altLang="en-US" sz="1600"/>
              <a:t>3.4.2 在Barcode 项填写板号模板，板号长度总共64位，主板SN号固定位不动，把几位流水号改成xxxxx（</a:t>
            </a:r>
            <a:r>
              <a:rPr lang="zh-CN" altLang="en-US" sz="1600">
                <a:solidFill>
                  <a:srgbClr val="FF0000"/>
                </a:solidFill>
              </a:rPr>
              <a:t>注：客户不同改的位数不相同，我们改动时只能改会变的数字固定不变的不能用xxxx代替，如遇不写码的客户直接把前面数字全部用x代替</a:t>
            </a:r>
            <a:r>
              <a:rPr lang="zh-CN" altLang="en-US" sz="1600"/>
              <a:t>），后“10P”或“10”不动 （</a:t>
            </a:r>
            <a:r>
              <a:rPr lang="zh-CN" altLang="en-US" sz="1600">
                <a:solidFill>
                  <a:srgbClr val="FF0000"/>
                </a:solidFill>
              </a:rPr>
              <a:t>注：10代表没有测试综测、</a:t>
            </a:r>
            <a:r>
              <a:rPr lang="en-US" altLang="zh-CN" sz="1600">
                <a:solidFill>
                  <a:srgbClr val="FF0000"/>
                </a:solidFill>
              </a:rPr>
              <a:t>P</a:t>
            </a:r>
            <a:r>
              <a:rPr lang="zh-CN" altLang="en-US" sz="1600">
                <a:solidFill>
                  <a:srgbClr val="FF0000"/>
                </a:solidFill>
              </a:rPr>
              <a:t>代表有测试综测</a:t>
            </a:r>
            <a:r>
              <a:rPr lang="zh-CN" altLang="en-US" sz="1600"/>
              <a:t>）</a:t>
            </a:r>
            <a:endParaRPr lang="en-US" altLang="zh-CN" sz="1400">
              <a:ln>
                <a:noFill/>
              </a:ln>
              <a:solidFill>
                <a:srgbClr val="FF0000"/>
              </a:solidFill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95" y="1701800"/>
            <a:ext cx="6066790" cy="275653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25095" y="4458335"/>
            <a:ext cx="10102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800"/>
              <a:t>3.5 (</a:t>
            </a:r>
            <a:r>
              <a:rPr lang="zh-CN" altLang="en-US" sz="1800">
                <a:solidFill>
                  <a:srgbClr val="FF0000"/>
                </a:solidFill>
              </a:rPr>
              <a:t>BTS+PumpExPress</a:t>
            </a:r>
            <a:r>
              <a:rPr lang="zh-CN" altLang="en-US" sz="1800"/>
              <a:t>)  (</a:t>
            </a:r>
            <a:r>
              <a:rPr lang="zh-CN" altLang="en-US" sz="1800">
                <a:solidFill>
                  <a:srgbClr val="FF0000"/>
                </a:solidFill>
              </a:rPr>
              <a:t>key pad</a:t>
            </a:r>
            <a:r>
              <a:rPr lang="zh-CN" altLang="en-US" sz="1800"/>
              <a:t>)  (</a:t>
            </a:r>
            <a:r>
              <a:rPr lang="zh-CN" altLang="en-US" sz="1800">
                <a:solidFill>
                  <a:srgbClr val="FF0000"/>
                </a:solidFill>
              </a:rPr>
              <a:t>PM Col</a:t>
            </a:r>
            <a:r>
              <a:rPr lang="zh-CN" altLang="en-US" sz="1800"/>
              <a:t>)  (</a:t>
            </a:r>
            <a:r>
              <a:rPr lang="zh-CN" altLang="en-US" sz="1800">
                <a:solidFill>
                  <a:srgbClr val="FF0000"/>
                </a:solidFill>
              </a:rPr>
              <a:t>Mic Bias+OTG</a:t>
            </a:r>
            <a:r>
              <a:rPr lang="zh-CN" altLang="en-US" sz="1800"/>
              <a:t>)此几项我们不做测试不用调试。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8" y="4826635"/>
            <a:ext cx="6219825" cy="2313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33350" y="154940"/>
            <a:ext cx="10059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/>
              <a:t>3.6 Camera</a:t>
            </a:r>
            <a:endParaRPr lang="zh-CN" altLang="en-US" sz="1600"/>
          </a:p>
          <a:p>
            <a:pPr algn="l"/>
            <a:r>
              <a:rPr lang="zh-CN" altLang="en-US" sz="1600"/>
              <a:t>3.6.1 摄像头把</a:t>
            </a:r>
            <a:r>
              <a:rPr lang="en-US" altLang="zh-CN" sz="1600"/>
              <a:t>                                       </a:t>
            </a:r>
            <a:r>
              <a:rPr lang="zh-CN" altLang="en-US" sz="1600"/>
              <a:t>勾上就是通过ATA工具检查校验和（目前只有拓宇客户能实现这个选项）</a:t>
            </a:r>
            <a:endParaRPr lang="zh-CN" altLang="en-US" sz="16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275" y="503555"/>
            <a:ext cx="2133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738505"/>
            <a:ext cx="6057900" cy="180467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47955" y="2519680"/>
            <a:ext cx="1004443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3.7  LED</a:t>
            </a:r>
            <a:endParaRPr lang="zh-CN" altLang="en-US" sz="1800"/>
          </a:p>
          <a:p>
            <a:r>
              <a:rPr lang="zh-CN" altLang="en-US" sz="1600"/>
              <a:t>3.7.1 LED首先测试一个板出来，要确保这个板确实是带几个灯，读取到一个0就代表识别到一颗灯，读出后</a:t>
            </a:r>
            <a:r>
              <a:rPr lang="en-US" altLang="zh-CN" sz="1600"/>
              <a:t>0</a:t>
            </a:r>
            <a:r>
              <a:rPr lang="zh-CN" altLang="en-US" sz="1600"/>
              <a:t>的个数必须与主板灯的个数相同，把log打开找到读取出来的LED值填写进去。</a:t>
            </a:r>
            <a:endParaRPr lang="zh-CN" altLang="en-US" sz="1600"/>
          </a:p>
        </p:txBody>
      </p:sp>
      <p:pic>
        <p:nvPicPr>
          <p:cNvPr id="10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" y="3311525"/>
            <a:ext cx="6286500" cy="1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25095" y="4580890"/>
            <a:ext cx="1004506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3.8 WIFI</a:t>
            </a:r>
            <a:endParaRPr lang="zh-CN" altLang="en-US"/>
          </a:p>
          <a:p>
            <a:pPr algn="l"/>
            <a:r>
              <a:rPr lang="zh-CN" altLang="en-US" sz="1600"/>
              <a:t>3.8.1 勾上Mac address Template可以拦截WiFi地址。把本工单需要写入的Mac地址填写进去，把后六位改成xxxxxx就能拦截成别的号或者没写号。</a:t>
            </a:r>
            <a:endParaRPr lang="zh-CN" altLang="en-US" sz="1600"/>
          </a:p>
          <a:p>
            <a:pPr algn="l"/>
            <a:r>
              <a:rPr lang="zh-CN" altLang="en-US" sz="1600"/>
              <a:t>3.8.2 RSSI Value 可以拦截WiFi信号强度</a:t>
            </a:r>
            <a:endParaRPr lang="zh-CN" altLang="en-US" sz="1600"/>
          </a:p>
        </p:txBody>
      </p:sp>
      <p:pic>
        <p:nvPicPr>
          <p:cNvPr id="23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8" y="5687378"/>
            <a:ext cx="625792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5095" y="71120"/>
            <a:ext cx="9958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3.9 BT  勾上BT address Template后可以拦截BT地址。把本工单需要写入的Mac地址填写进去，把后六位改成xxxxxx就能拦截写成别的号或者没写号。</a:t>
            </a:r>
            <a:endParaRPr lang="zh-CN" altLang="en-US"/>
          </a:p>
        </p:txBody>
      </p:sp>
      <p:pic>
        <p:nvPicPr>
          <p:cNvPr id="24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95" y="716280"/>
            <a:ext cx="6238875" cy="11645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25095" y="1880870"/>
            <a:ext cx="76441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3.10  FM+Signal Strength 项参数配置，按照下图所示将各项参数配置好。</a:t>
            </a:r>
            <a:endParaRPr lang="zh-CN" altLang="en-US"/>
          </a:p>
        </p:txBody>
      </p:sp>
      <p:pic>
        <p:nvPicPr>
          <p:cNvPr id="14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2249170"/>
            <a:ext cx="6305550" cy="18281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25095" y="4077335"/>
            <a:ext cx="97580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3.11 Vibrator+SleepMode+ ADC 项参数的设置，按照下图要求填写 Vibrator 和ADC 项的参数。</a:t>
            </a:r>
            <a:endParaRPr lang="zh-CN" altLang="en-US"/>
          </a:p>
        </p:txBody>
      </p:sp>
      <p:pic>
        <p:nvPicPr>
          <p:cNvPr id="16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95" y="4446270"/>
            <a:ext cx="6096000" cy="266827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标注 7"/>
          <p:cNvSpPr/>
          <p:nvPr/>
        </p:nvSpPr>
        <p:spPr>
          <a:xfrm>
            <a:off x="1772285" y="4751705"/>
            <a:ext cx="1791335" cy="440055"/>
          </a:xfrm>
          <a:prstGeom prst="wedgeRectCallout">
            <a:avLst>
              <a:gd name="adj1" fmla="val -56127"/>
              <a:gd name="adj2" fmla="val 20274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kern="100">
                <a:solidFill>
                  <a:srgbClr val="FF0000"/>
                </a:solidFill>
                <a:latin typeface="等线"/>
                <a:ea typeface="等线"/>
                <a:cs typeface="Times New Roman" panose="02020603050405020304"/>
                <a:sym typeface="Times New Roman" panose="02020603050405020304"/>
              </a:rPr>
              <a:t>主板上是贴片式马达</a:t>
            </a:r>
            <a:r>
              <a:rPr lang="en-US" altLang="zh-CN" sz="1050" kern="100">
                <a:solidFill>
                  <a:srgbClr val="FF0000"/>
                </a:solidFill>
                <a:latin typeface="等线"/>
                <a:ea typeface="等线"/>
                <a:cs typeface="Times New Roman" panose="02020603050405020304"/>
                <a:sym typeface="Times New Roman" panose="02020603050405020304"/>
              </a:rPr>
              <a:t>时勾选</a:t>
            </a:r>
            <a:endParaRPr lang="en-US" altLang="zh-CN" sz="1050" kern="100">
              <a:solidFill>
                <a:srgbClr val="FF0000"/>
              </a:solidFill>
              <a:latin typeface="等线"/>
              <a:ea typeface="等线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5095" y="143510"/>
            <a:ext cx="10095230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00"/>
              <a:t>3.12 Audio 参数的设置，按照下图填写各项测试参数。（</a:t>
            </a:r>
            <a:r>
              <a:rPr lang="zh-CN" altLang="en-US" sz="1700">
                <a:solidFill>
                  <a:srgbClr val="FF0000"/>
                </a:solidFill>
              </a:rPr>
              <a:t>部分客户可能值设置不一样其他都按此设置</a:t>
            </a:r>
            <a:r>
              <a:rPr lang="zh-CN" altLang="en-US" sz="1700"/>
              <a:t>）</a:t>
            </a:r>
            <a:endParaRPr lang="zh-CN" altLang="en-US" sz="1700"/>
          </a:p>
        </p:txBody>
      </p:sp>
      <p:pic>
        <p:nvPicPr>
          <p:cNvPr id="1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95" y="503555"/>
            <a:ext cx="6124575" cy="34467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13030" y="3959860"/>
            <a:ext cx="1010729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600"/>
              <a:t>3.13 Sensor 参数的设置，按照下图填写各Sensor的测试参数。（</a:t>
            </a:r>
            <a:r>
              <a:rPr lang="zh-CN" altLang="en-US" sz="1600">
                <a:solidFill>
                  <a:srgbClr val="FF0000"/>
                </a:solidFill>
              </a:rPr>
              <a:t>部分客户可能值设置不一样其他都按此设置</a:t>
            </a:r>
            <a:r>
              <a:rPr lang="zh-CN" altLang="en-US" sz="1600"/>
              <a:t>）</a:t>
            </a:r>
            <a:endParaRPr lang="zh-CN" altLang="en-US" sz="1600"/>
          </a:p>
        </p:txBody>
      </p:sp>
      <p:pic>
        <p:nvPicPr>
          <p:cNvPr id="22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8" y="4319588"/>
            <a:ext cx="6276975" cy="2781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13030" y="300355"/>
            <a:ext cx="100336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/>
              <a:t>3.1</a:t>
            </a:r>
            <a:r>
              <a:rPr lang="en-US" altLang="zh-CN" sz="2400" b="1"/>
              <a:t>4  </a:t>
            </a:r>
            <a:r>
              <a:rPr lang="zh-CN" altLang="en-US" sz="2400" b="1"/>
              <a:t>测试</a:t>
            </a:r>
            <a:r>
              <a:rPr lang="en-US" altLang="zh-CN" sz="2400" b="1"/>
              <a:t>log</a:t>
            </a:r>
            <a:r>
              <a:rPr lang="zh-CN" altLang="en-US" sz="2400" b="1"/>
              <a:t>查看方法：</a:t>
            </a:r>
            <a:endParaRPr lang="zh-CN" altLang="en-US" sz="1600"/>
          </a:p>
          <a:p>
            <a:pPr algn="l"/>
            <a:r>
              <a:rPr lang="zh-CN" altLang="en-US" sz="1600"/>
              <a:t>找到工具文件打开，如SP_ATA_tool_exe_v2.1844.00\log两个文件为一组，</a:t>
            </a:r>
            <a:r>
              <a:rPr lang="en-US" altLang="zh-CN" sz="1600"/>
              <a:t>XLS</a:t>
            </a:r>
            <a:r>
              <a:rPr lang="zh-CN" altLang="en-US" sz="1600"/>
              <a:t>文件是看测试结果，</a:t>
            </a:r>
            <a:r>
              <a:rPr lang="en-US" altLang="zh-CN" sz="1600"/>
              <a:t>TXT</a:t>
            </a:r>
            <a:r>
              <a:rPr lang="zh-CN" altLang="en-US" sz="1600"/>
              <a:t>文件是查看各测试标准。</a:t>
            </a:r>
            <a:endParaRPr lang="zh-CN" altLang="en-US" sz="160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7485" y="1253490"/>
            <a:ext cx="3638550" cy="19145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3030" y="3239770"/>
            <a:ext cx="100336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/>
              <a:t>3.1</a:t>
            </a:r>
            <a:r>
              <a:rPr lang="en-US" altLang="zh-CN" sz="2400" b="1"/>
              <a:t>5  </a:t>
            </a:r>
            <a:r>
              <a:rPr lang="zh-CN" altLang="en-US" sz="2400" b="1"/>
              <a:t>测试</a:t>
            </a:r>
            <a:r>
              <a:rPr lang="zh-CN" altLang="en-US" sz="2400" b="1">
                <a:sym typeface="+mn-ea"/>
              </a:rPr>
              <a:t>项</a:t>
            </a:r>
            <a:r>
              <a:rPr lang="zh-CN" altLang="en-US" sz="2400" b="1"/>
              <a:t>顺序修改方法：</a:t>
            </a:r>
            <a:endParaRPr lang="zh-CN" altLang="en-US" sz="1600"/>
          </a:p>
          <a:p>
            <a:pPr algn="l"/>
            <a:r>
              <a:rPr lang="zh-CN" altLang="en-US" sz="1600"/>
              <a:t>找到工具文件打开，如SP_ATA_tool_exe_v2.1844.00，在程序文件下面找到TestItem.ini文件打开，前面的TestItem1 =</a:t>
            </a:r>
            <a:r>
              <a:rPr lang="en-US" altLang="zh-CN" sz="1600"/>
              <a:t> </a:t>
            </a:r>
            <a:r>
              <a:rPr lang="zh-CN" altLang="en-US" sz="1600"/>
              <a:t>为测试顺序不要修改，只需要改右边的功能项就可以。</a:t>
            </a:r>
            <a:endParaRPr lang="zh-CN" altLang="en-US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0" y="4192905"/>
            <a:ext cx="3124200" cy="29629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9a3bc4a7-1b6b-4173-aa2c-551ea6c70257}"/>
</p:tagLst>
</file>

<file path=ppt/tags/tag2.xml><?xml version="1.0" encoding="utf-8"?>
<p:tagLst xmlns:p="http://schemas.openxmlformats.org/presentationml/2006/main">
  <p:tag name="KSO_WM_UNIT_TABLE_BEAUTIFY" val="smartTable{e8e8bce0-b33e-4c4c-94c6-5a35e2514b1f}"/>
</p:tagLst>
</file>

<file path=ppt/tags/tag3.xml><?xml version="1.0" encoding="utf-8"?>
<p:tagLst xmlns:p="http://schemas.openxmlformats.org/presentationml/2006/main">
  <p:tag name="KSO_WM_UNIT_PLACING_PICTURE_USER_VIEWPORT" val="{&quot;height&quot;:3015,&quot;width&quot;:5730}"/>
</p:tagLst>
</file>

<file path=ppt/tags/tag4.xml><?xml version="1.0" encoding="utf-8"?>
<p:tagLst xmlns:p="http://schemas.openxmlformats.org/presentationml/2006/main">
  <p:tag name="KSO_WPP_MARK_KEY" val="d173ee52-a857-4a61-9d2a-278c57aa588b"/>
  <p:tag name="COMMONDATA" val="eyJoZGlkIjoiMjEwMzYyNzc3MmI1NWEyMjIyMTNhNzUzOWU3ZjZlNTc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4108</Words>
  <Application>WPS 演示</Application>
  <PresentationFormat/>
  <Paragraphs>417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PMingLiU</vt:lpstr>
      <vt:lpstr>等线</vt:lpstr>
      <vt:lpstr>Times New Roman</vt:lpstr>
      <vt:lpstr>微软雅黑</vt:lpstr>
      <vt:lpstr>Arial Unicode MS</vt:lpstr>
      <vt:lpstr>Calibri</vt:lpstr>
      <vt:lpstr>默认设计模板</vt:lpstr>
      <vt:lpstr>PowerPoint 演示文稿</vt:lpstr>
      <vt:lpstr>1、USB驱动安装步骤如下； (1.1找到我的电脑，打开设备管理器（或者打开管理找到设备管理器）  (1.2插上主板会在其他设备弹出MT65xx需要安装驱动 右击MT65xx选择更新驱动程序。如下图1、图2、图3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A. 你是我唯一</cp:lastModifiedBy>
  <cp:revision>18</cp:revision>
  <dcterms:created xsi:type="dcterms:W3CDTF">2021-09-16T09:32:00Z</dcterms:created>
  <dcterms:modified xsi:type="dcterms:W3CDTF">2023-03-30T03:39:14Z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FA8AB1C4E8114FD38326E360A5C4AFC1</vt:lpwstr>
  </property>
</Properties>
</file>